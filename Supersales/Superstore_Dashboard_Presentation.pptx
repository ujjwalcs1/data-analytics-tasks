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ln w="38100" cap="flat">
              <a:solidFill>
                <a:srgbClr val="1E88E5"/>
              </a:solidFill>
              <a:prstDash val="solid"/>
              <a:round/>
            </a:ln>
            <a:effectLst>
              <a:outerShdw blurRad="101600" dist="25400" dir="8100000" algn="bl">
                <a:srgbClr val="000000">
                  <a:alpha val="12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484247</c:v>
                </c:pt>
                <c:pt idx="1">
                  <c:v>470533</c:v>
                </c:pt>
                <c:pt idx="2">
                  <c:v>609206</c:v>
                </c:pt>
                <c:pt idx="3">
                  <c:v>733215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2FD-49F6-AE07-44E8AA81AE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 ($)</c:v>
                </c:pt>
              </c:strCache>
            </c:strRef>
          </c:tx>
          <c:spPr>
            <a:ln w="38100" cap="flat">
              <a:solidFill>
                <a:srgbClr val="00897B"/>
              </a:solidFill>
              <a:prstDash val="solid"/>
              <a:round/>
            </a:ln>
            <a:effectLst>
              <a:outerShdw blurRad="101600" dist="25400" dir="8100000" algn="bl">
                <a:srgbClr val="000000">
                  <a:alpha val="12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49544</c:v>
                </c:pt>
                <c:pt idx="1">
                  <c:v>61619</c:v>
                </c:pt>
                <c:pt idx="2">
                  <c:v>81795</c:v>
                </c:pt>
                <c:pt idx="3">
                  <c:v>93439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2FD-49F6-AE07-44E8AA81AE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80C-4024-A446-47D4DF3F103B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0C-4024-A446-47D4DF3F103B}"/>
              </c:ext>
            </c:extLst>
          </c:dPt>
          <c:dPt>
            <c:idx val="2"/>
            <c:invertIfNegative val="0"/>
            <c:bubble3D val="0"/>
            <c:spPr>
              <a:solidFill>
                <a:srgbClr val="00AC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80C-4024-A446-47D4DF3F103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836154</c:v>
                </c:pt>
                <c:pt idx="1">
                  <c:v>742000</c:v>
                </c:pt>
                <c:pt idx="2">
                  <c:v>719047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80C-4024-A446-47D4DF3F10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8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357-4901-A337-A06DC28333A3}"/>
              </c:ext>
            </c:extLst>
          </c:dPt>
          <c:dPt>
            <c:idx val="1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57-4901-A337-A06DC28333A3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357-4901-A337-A06DC28333A3}"/>
              </c:ext>
            </c:extLst>
          </c:dPt>
          <c:dPt>
            <c:idx val="3"/>
            <c:bubble3D val="0"/>
            <c:spPr>
              <a:solidFill>
                <a:srgbClr val="00AC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357-4901-A337-A06DC28333A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57-4901-A337-A06DC28333A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57-4901-A337-A06DC28333A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57-4901-A337-A06DC28333A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57-4901-A337-A06DC28333A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725458</c:v>
                </c:pt>
                <c:pt idx="1">
                  <c:v>678781</c:v>
                </c:pt>
                <c:pt idx="2">
                  <c:v>501240</c:v>
                </c:pt>
                <c:pt idx="3">
                  <c:v>391722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357-4901-A337-A06DC28333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24B-4AF5-B8CA-A8480C893991}"/>
              </c:ext>
            </c:extLst>
          </c:dPt>
          <c:dPt>
            <c:idx val="1"/>
            <c:invertIfNegative val="0"/>
            <c:bubble3D val="0"/>
            <c:spPr>
              <a:solidFill>
                <a:srgbClr val="00AC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4B-4AF5-B8CA-A8480C893991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24B-4AF5-B8CA-A8480C89399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145455</c:v>
                </c:pt>
                <c:pt idx="1">
                  <c:v>122491</c:v>
                </c:pt>
                <c:pt idx="2">
                  <c:v>18451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24B-4AF5-B8CA-A8480C8939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Copiers</c:v>
                </c:pt>
                <c:pt idx="1">
                  <c:v>Phones</c:v>
                </c:pt>
                <c:pt idx="2">
                  <c:v>Accessories</c:v>
                </c:pt>
                <c:pt idx="3">
                  <c:v>Paper</c:v>
                </c:pt>
                <c:pt idx="4">
                  <c:v>Binders</c:v>
                </c:pt>
                <c:pt idx="5">
                  <c:v>Chairs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55618</c:v>
                </c:pt>
                <c:pt idx="1">
                  <c:v>44516</c:v>
                </c:pt>
                <c:pt idx="2">
                  <c:v>41937</c:v>
                </c:pt>
                <c:pt idx="3">
                  <c:v>34054</c:v>
                </c:pt>
                <c:pt idx="4">
                  <c:v>30222</c:v>
                </c:pt>
                <c:pt idx="5">
                  <c:v>26590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F0-44FC-A674-5BEF97C1B6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8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491-461C-A1CF-CDB43F946A29}"/>
              </c:ext>
            </c:extLst>
          </c:dPt>
          <c:dPt>
            <c:idx val="1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491-461C-A1CF-CDB43F946A29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491-461C-A1CF-CDB43F946A2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91-461C-A1CF-CDB43F946A2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491-461C-A1CF-CDB43F946A2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91-461C-A1CF-CDB43F946A2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1161401</c:v>
                </c:pt>
                <c:pt idx="1">
                  <c:v>706146</c:v>
                </c:pt>
                <c:pt idx="2">
                  <c:v>429653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491-461C-A1CF-CDB43F946A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($)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A0-449E-8D22-E4DFBCD3494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4A0-449E-8D22-E4DFBCD34944}"/>
              </c:ext>
            </c:extLst>
          </c:dPt>
          <c:dPt>
            <c:idx val="2"/>
            <c:invertIfNegative val="0"/>
            <c:bubble3D val="0"/>
            <c:spPr>
              <a:solidFill>
                <a:srgbClr val="00AC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A0-449E-8D22-E4DFBCD34944}"/>
              </c:ext>
            </c:extLst>
          </c:dPt>
          <c:dPt>
            <c:idx val="3"/>
            <c:invertIfNegative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A0-449E-8D22-E4DFBCD34944}"/>
              </c:ext>
            </c:extLst>
          </c:dPt>
          <c:dPt>
            <c:idx val="4"/>
            <c:invertIfNegative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4A0-449E-8D22-E4DFBCD34944}"/>
              </c:ext>
            </c:extLst>
          </c:dPt>
          <c:dPt>
            <c:idx val="5"/>
            <c:invertIfNegative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4A0-449E-8D22-E4DFBCD3494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1–10%</c:v>
                </c:pt>
                <c:pt idx="2">
                  <c:v>11–20%</c:v>
                </c:pt>
                <c:pt idx="3">
                  <c:v>21–30%</c:v>
                </c:pt>
                <c:pt idx="4">
                  <c:v>31–50%</c:v>
                </c:pt>
                <c:pt idx="5">
                  <c:v>51%+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66.900000000000006</c:v>
                </c:pt>
                <c:pt idx="1">
                  <c:v>96.1</c:v>
                </c:pt>
                <c:pt idx="2">
                  <c:v>24.7</c:v>
                </c:pt>
                <c:pt idx="3">
                  <c:v>-45.7</c:v>
                </c:pt>
                <c:pt idx="4">
                  <c:v>-156.30000000000001</c:v>
                </c:pt>
                <c:pt idx="5">
                  <c:v>-89.4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4A0-449E-8D22-E4DFBCD349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313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1565C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00ACC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274320"/>
            <a:ext cx="1828800" cy="1828800"/>
          </a:xfrm>
          <a:prstGeom prst="ellipse">
            <a:avLst/>
          </a:prstGeom>
          <a:solidFill>
            <a:srgbClr val="1E88E5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REPORT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Superstore Sales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Dashboard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114800" y="3474720"/>
            <a:ext cx="3931920" cy="3657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– 2017  |  9,994 Records  |  Retail Sales Analysis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663440"/>
            <a:ext cx="228600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E88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709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5193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4663440"/>
            <a:ext cx="228600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E88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0440" y="4709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5193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4663440"/>
            <a:ext cx="228600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E88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4709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5193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32520" y="4663440"/>
            <a:ext cx="228600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E88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32520" y="4709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732520" y="5193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2014–2017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5661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73152" cy="2194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243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years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78808" y="960120"/>
            <a:ext cx="35661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78808" y="960120"/>
            <a:ext cx="73152" cy="21945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4315968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15968" y="16459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15968" y="22585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5968" y="26243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+$44K vs 2016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37576" y="960120"/>
            <a:ext cx="35661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37576" y="960120"/>
            <a:ext cx="73152" cy="21945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9" name="Text 17"/>
          <p:cNvSpPr/>
          <p:nvPr/>
        </p:nvSpPr>
        <p:spPr>
          <a:xfrm>
            <a:off x="8174736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74736" y="16459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174736" y="22585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74736" y="26243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margin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520440"/>
            <a:ext cx="35661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520440"/>
            <a:ext cx="73152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15.62%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57200" y="48188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51846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Central rgn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78808" y="3520440"/>
            <a:ext cx="35661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78808" y="3520440"/>
            <a:ext cx="73152" cy="21945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1" name="Text 29"/>
          <p:cNvSpPr/>
          <p:nvPr/>
        </p:nvSpPr>
        <p:spPr>
          <a:xfrm>
            <a:off x="4315968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315968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5,009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315968" y="48188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15968" y="51846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IDs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37576" y="3520440"/>
            <a:ext cx="35661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37576" y="3520440"/>
            <a:ext cx="73152" cy="2194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8174736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174736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37,873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8174736" y="48188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74736" y="51846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GROWTH TREND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over Year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68580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0058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0" y="1005840"/>
            <a:ext cx="64008" cy="1005840"/>
          </a:xfrm>
          <a:prstGeom prst="rect">
            <a:avLst/>
          </a:prstGeom>
          <a:solidFill>
            <a:srgbClr val="90A4C8"/>
          </a:solidFill>
          <a:ln/>
        </p:spPr>
      </p:sp>
      <p:sp>
        <p:nvSpPr>
          <p:cNvPr id="8" name="Text 5"/>
          <p:cNvSpPr/>
          <p:nvPr/>
        </p:nvSpPr>
        <p:spPr>
          <a:xfrm>
            <a:off x="7726680" y="10789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869680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$484K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26680" y="1481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219456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89520" y="2194560"/>
            <a:ext cx="64008" cy="10058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3" name="Text 10"/>
          <p:cNvSpPr/>
          <p:nvPr/>
        </p:nvSpPr>
        <p:spPr>
          <a:xfrm>
            <a:off x="7726680" y="22677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869680" y="22677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$471K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726680" y="26700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-2.8% YoY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89520" y="33832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89520" y="3383280"/>
            <a:ext cx="64008" cy="10058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Text 15"/>
          <p:cNvSpPr/>
          <p:nvPr/>
        </p:nvSpPr>
        <p:spPr>
          <a:xfrm>
            <a:off x="7726680" y="34564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869680" y="3456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$609K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726680" y="38587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+29.5% YoY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89520" y="457200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589520" y="4572000"/>
            <a:ext cx="64008" cy="10058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0"/>
          <p:cNvSpPr/>
          <p:nvPr/>
        </p:nvSpPr>
        <p:spPr>
          <a:xfrm>
            <a:off x="7726680" y="46451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869680" y="46451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$733K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26680" y="50474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+20.4% YoY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 &amp; REGION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57784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371600"/>
          <a:ext cx="5394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914400"/>
            <a:ext cx="557784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005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217920" y="1371600"/>
          <a:ext cx="55778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57784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Category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371600"/>
          <a:ext cx="5394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914400"/>
            <a:ext cx="557784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005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Sub-Categories by Profit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217920" y="1371600"/>
          <a:ext cx="55778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SEGMENT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Segment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371600"/>
          <a:ext cx="5029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914400"/>
            <a:ext cx="621792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52160" y="10058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by Sales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63040"/>
          <a:ext cx="603504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Sean Miller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Tamara Chand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Raymond Buch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$15,117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Ashbrook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$14,596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Adrian Barton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$14,474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760720" y="4572000"/>
            <a:ext cx="6035040" cy="10972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1" name="Shape 7"/>
          <p:cNvSpPr/>
          <p:nvPr/>
        </p:nvSpPr>
        <p:spPr>
          <a:xfrm>
            <a:off x="5760720" y="4572000"/>
            <a:ext cx="64008" cy="10972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8"/>
          <p:cNvSpPr/>
          <p:nvPr/>
        </p:nvSpPr>
        <p:spPr>
          <a:xfrm>
            <a:off x="5897880" y="461772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Sean Miller has the highest sales ($25K) but is loss-making. Review discount strategy for this account.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731520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Profit per Order by Discount Band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371600"/>
          <a:ext cx="71323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955280" y="1005840"/>
            <a:ext cx="3931920" cy="1417320"/>
          </a:xfrm>
          <a:prstGeom prst="rect">
            <a:avLst/>
          </a:prstGeom>
          <a:solidFill>
            <a:srgbClr val="E0F2F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0" y="1005840"/>
            <a:ext cx="64008" cy="1417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10972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Break-even at 20%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1508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discounted ≤20% are profitable on average.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55280" y="2606040"/>
            <a:ext cx="3931920" cy="1417320"/>
          </a:xfrm>
          <a:prstGeom prst="rect">
            <a:avLst/>
          </a:prstGeom>
          <a:solidFill>
            <a:srgbClr val="FFEBE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955280" y="2606040"/>
            <a:ext cx="64008" cy="14173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3" name="Text 10"/>
          <p:cNvSpPr/>
          <p:nvPr/>
        </p:nvSpPr>
        <p:spPr>
          <a:xfrm>
            <a:off x="8092440" y="26974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31–50% band worst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92440" y="31089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loss of $156 per order. Highest risk band.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55280" y="4206240"/>
            <a:ext cx="3931920" cy="1417320"/>
          </a:xfrm>
          <a:prstGeom prst="rect">
            <a:avLst/>
          </a:prstGeom>
          <a:solidFill>
            <a:srgbClr val="FFF8E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955280" y="4206240"/>
            <a:ext cx="64008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8092440" y="42976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Central Region: 24%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92440" y="4709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averages 24% discount vs 11% in West.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457200"/>
            <a:ext cx="3657600" cy="3657600"/>
          </a:xfrm>
          <a:prstGeom prst="ellipse">
            <a:avLst/>
          </a:prstGeom>
          <a:solidFill>
            <a:srgbClr val="1565C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4114800"/>
            <a:ext cx="2743200" cy="2743200"/>
          </a:xfrm>
          <a:prstGeom prst="ellipse">
            <a:avLst/>
          </a:prstGeom>
          <a:solidFill>
            <a:srgbClr val="00ACC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657600" cy="24231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64008" cy="24231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698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Growth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51% from 2014 to 2017. Momentum is accelerating — 2017 added $124K over 2016.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15384" y="960120"/>
            <a:ext cx="3657600" cy="24231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15384" y="960120"/>
            <a:ext cx="64008" cy="24231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10698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52544" y="15270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52544" y="196596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the top category by both Sales ($836K) and Profit ($145K). Prioritize this segment.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0728" y="960120"/>
            <a:ext cx="3657600" cy="24231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0728" y="960120"/>
            <a:ext cx="64008" cy="24231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10698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47888" y="15270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#1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47888" y="196596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leads with $725K in sales and the lowest avg discount (10.9%). Best-run region.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3657600" cy="24231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57600"/>
            <a:ext cx="64008" cy="2423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673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🪑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42245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Risk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has $742K in sales but only $18K profit (2.5% margin). Discounting is eroding value.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15384" y="3657600"/>
            <a:ext cx="3657600" cy="24231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15384" y="3657600"/>
            <a:ext cx="64008" cy="24231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7" name="Text 25"/>
          <p:cNvSpPr/>
          <p:nvPr/>
        </p:nvSpPr>
        <p:spPr>
          <a:xfrm>
            <a:off x="4352544" y="37673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352544" y="42245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at 20%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52544" y="466344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above 20% discount are loss-making. Central region discounts at 24% — needs immediate review.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0728" y="3657600"/>
            <a:ext cx="3657600" cy="24231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0728" y="3657600"/>
            <a:ext cx="64008" cy="2423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8247888" y="37673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247888" y="42245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Audit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47888" y="466344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 (#1 in sales) generates negative profit. Re-negotiate terms or review product mix.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00ACC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 Dashboard  |  2014–2017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0" y="3749040"/>
            <a:ext cx="3931920" cy="3657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UJJWAL KUMAR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</Words>
  <Application>Microsoft Office PowerPoint</Application>
  <PresentationFormat>Widescreen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Performance Dashboard</dc:title>
  <dc:subject>PptxGenJS Presentation</dc:subject>
  <dc:creator>PptxGenJS</dc:creator>
  <cp:lastModifiedBy>Ujjwal Kumar</cp:lastModifiedBy>
  <cp:revision>2</cp:revision>
  <dcterms:created xsi:type="dcterms:W3CDTF">2026-06-01T11:21:37Z</dcterms:created>
  <dcterms:modified xsi:type="dcterms:W3CDTF">2026-06-01T16:27:59Z</dcterms:modified>
</cp:coreProperties>
</file>