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rgbClr val="6B3F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2011</c:v>
                  </c:pt>
                  <c:pt idx="1">
                    <c:v>2012</c:v>
                  </c:pt>
                  <c:pt idx="2">
                    <c:v>2013</c:v>
                  </c:pt>
                  <c:pt idx="3">
                    <c:v>2014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897125</c:v>
                </c:pt>
                <c:pt idx="1">
                  <c:v>1008890</c:v>
                </c:pt>
                <c:pt idx="2">
                  <c:v>1178313</c:v>
                </c:pt>
                <c:pt idx="3">
                  <c:v>1702804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Profit</c:v>
                </c:pt>
              </c:strCache>
            </c:strRef>
          </c:tx>
          <c:spPr>
            <a:solidFill>
              <a:srgbClr val="4EC9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2011</c:v>
                  </c:pt>
                  <c:pt idx="1">
                    <c:v>2012</c:v>
                  </c:pt>
                  <c:pt idx="2">
                    <c:v>2013</c:v>
                  </c:pt>
                  <c:pt idx="3">
                    <c:v>2014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103820</c:v>
                </c:pt>
                <c:pt idx="1">
                  <c:v>118043</c:v>
                </c:pt>
                <c:pt idx="2">
                  <c:v>164527</c:v>
                </c:pt>
                <c:pt idx="3">
                  <c:v>295730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rgbClr val="C8A8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0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A8F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A8F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A8F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5CC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B5CC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B3FA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A2878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Canada</c:v>
                  </c:pt>
                  <c:pt idx="1">
                    <c:v>Africa</c:v>
                  </c:pt>
                  <c:pt idx="2">
                    <c:v>EMEA</c:v>
                  </c:pt>
                  <c:pt idx="3">
                    <c:v>LATAM</c:v>
                  </c:pt>
                  <c:pt idx="4">
                    <c:v>US</c:v>
                  </c:pt>
                  <c:pt idx="5">
                    <c:v>EU</c:v>
                  </c:pt>
                  <c:pt idx="6">
                    <c:v>APAC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40058</c:v>
                </c:pt>
                <c:pt idx="1">
                  <c:v>246089</c:v>
                </c:pt>
                <c:pt idx="2">
                  <c:v>255952</c:v>
                </c:pt>
                <c:pt idx="3">
                  <c:v>722938</c:v>
                </c:pt>
                <c:pt idx="4">
                  <c:v>1500000</c:v>
                </c:pt>
                <c:pt idx="5">
                  <c:v>1550000</c:v>
                </c:pt>
                <c:pt idx="6">
                  <c:v>1970000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10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 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B3FA0"/>
              </a:solidFill>
              <a:effectLst/>
            </c:spPr>
          </c:dPt>
          <c:dPt>
            <c:idx val="1"/>
            <c:bubble3D val="0"/>
            <c:spPr>
              <a:solidFill>
                <a:srgbClr val="4EC9C8"/>
              </a:solidFill>
              <a:effectLst/>
            </c:spPr>
          </c:dPt>
          <c:dPt>
            <c:idx val="2"/>
            <c:bubble3D val="0"/>
            <c:spPr>
              <a:solidFill>
                <a:srgbClr val="F5C54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104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104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104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Furniture</c:v>
                </c:pt>
                <c:pt idx="1">
                  <c:v>Technology</c:v>
                </c:pt>
                <c:pt idx="2">
                  <c:v>Office Supplies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519728</c:v>
                </c:pt>
                <c:pt idx="1">
                  <c:v>808381</c:v>
                </c:pt>
                <c:pt idx="2">
                  <c:v>3459024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solidFill>
      <a:srgbClr val="F4F0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Sales</c:v>
                </c:pt>
              </c:strCache>
            </c:strRef>
          </c:tx>
          <c:spPr>
            <a:solidFill>
              <a:srgbClr val="6B3F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380000</c:v>
                </c:pt>
                <c:pt idx="1">
                  <c:v>310000</c:v>
                </c:pt>
                <c:pt idx="2">
                  <c:v>450000</c:v>
                </c:pt>
                <c:pt idx="3">
                  <c:v>360000</c:v>
                </c:pt>
                <c:pt idx="4">
                  <c:v>490000</c:v>
                </c:pt>
                <c:pt idx="5">
                  <c:v>520000</c:v>
                </c:pt>
                <c:pt idx="6">
                  <c:v>730000</c:v>
                </c:pt>
                <c:pt idx="7">
                  <c:v>540000</c:v>
                </c:pt>
                <c:pt idx="8">
                  <c:v>430000</c:v>
                </c:pt>
                <c:pt idx="9">
                  <c:v>680000</c:v>
                </c:pt>
                <c:pt idx="10">
                  <c:v>820000</c:v>
                </c:pt>
                <c:pt idx="11">
                  <c:v>900000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8A8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0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A8F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A8F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A8F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A8F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B5CC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B5CC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B5CC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6B3FA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6B3FA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4A2878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National Capital</c:v>
                  </c:pt>
                  <c:pt idx="1">
                    <c:v>Victoria</c:v>
                  </c:pt>
                  <c:pt idx="2">
                    <c:v>Texas</c:v>
                  </c:pt>
                  <c:pt idx="3">
                    <c:v>Queensland</c:v>
                  </c:pt>
                  <c:pt idx="4">
                    <c:v>N. Rhine-Westphalia</c:v>
                  </c:pt>
                  <c:pt idx="5">
                    <c:v>New South Wales</c:v>
                  </c:pt>
                  <c:pt idx="6">
                    <c:v>Ile-de-France</c:v>
                  </c:pt>
                  <c:pt idx="7">
                    <c:v>New York</c:v>
                  </c:pt>
                  <c:pt idx="8">
                    <c:v>California</c:v>
                  </c:pt>
                  <c:pt idx="9">
                    <c:v>England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105000</c:v>
                </c:pt>
                <c:pt idx="1">
                  <c:v>112000</c:v>
                </c:pt>
                <c:pt idx="2">
                  <c:v>140000</c:v>
                </c:pt>
                <c:pt idx="3">
                  <c:v>165000</c:v>
                </c:pt>
                <c:pt idx="4">
                  <c:v>175000</c:v>
                </c:pt>
                <c:pt idx="5">
                  <c:v>185000</c:v>
                </c:pt>
                <c:pt idx="6">
                  <c:v>200000</c:v>
                </c:pt>
                <c:pt idx="7">
                  <c:v>245000</c:v>
                </c:pt>
                <c:pt idx="8">
                  <c:v>310000</c:v>
                </c:pt>
                <c:pt idx="9">
                  <c:v>330000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10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A287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4A2878"/>
                </a:solidFill>
                <a:latin typeface="Arial"/>
              </a:rPr>
              <a:t>By Customer Segment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B3FA0"/>
              </a:solidFill>
              <a:effectLst/>
            </c:spPr>
          </c:dPt>
          <c:dPt>
            <c:idx val="1"/>
            <c:bubble3D val="0"/>
            <c:spPr>
              <a:solidFill>
                <a:srgbClr val="4EC9C8"/>
              </a:solidFill>
              <a:effectLst/>
            </c:spPr>
          </c:dPt>
          <c:dPt>
            <c:idx val="2"/>
            <c:bubble3D val="0"/>
            <c:spPr>
              <a:solidFill>
                <a:srgbClr val="F5C54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104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104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104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51</c:v>
                </c:pt>
                <c:pt idx="1">
                  <c:v>30</c:v>
                </c:pt>
                <c:pt idx="2">
                  <c:v>19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4F0F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A287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4A2878"/>
                </a:solidFill>
                <a:latin typeface="Arial"/>
              </a:rPr>
              <a:t>By Order Priority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4A28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0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287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3FA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5CC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A8F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Critical</c:v>
                  </c:pt>
                  <c:pt idx="1">
                    <c:v>High</c:v>
                  </c:pt>
                  <c:pt idx="2">
                    <c:v>Medium</c:v>
                  </c:pt>
                  <c:pt idx="3">
                    <c:v>Low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2830</c:v>
                </c:pt>
                <c:pt idx="1">
                  <c:v>3420</c:v>
                </c:pt>
                <c:pt idx="2">
                  <c:v>5180</c:v>
                </c:pt>
                <c:pt idx="3">
                  <c:v>3054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10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6B3F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Canada</c:v>
                  </c:pt>
                  <c:pt idx="1">
                    <c:v>Africa</c:v>
                  </c:pt>
                  <c:pt idx="2">
                    <c:v>EMEA</c:v>
                  </c:pt>
                  <c:pt idx="3">
                    <c:v>LATAM</c:v>
                  </c:pt>
                  <c:pt idx="4">
                    <c:v>US</c:v>
                  </c:pt>
                  <c:pt idx="5">
                    <c:v>EU</c:v>
                  </c:pt>
                  <c:pt idx="6">
                    <c:v>APAC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40058</c:v>
                </c:pt>
                <c:pt idx="1">
                  <c:v>246089</c:v>
                </c:pt>
                <c:pt idx="2">
                  <c:v>255952</c:v>
                </c:pt>
                <c:pt idx="3">
                  <c:v>722938</c:v>
                </c:pt>
                <c:pt idx="4">
                  <c:v>1500000</c:v>
                </c:pt>
                <c:pt idx="5">
                  <c:v>1550000</c:v>
                </c:pt>
                <c:pt idx="6">
                  <c:v>1970000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4EC9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Canada</c:v>
                  </c:pt>
                  <c:pt idx="1">
                    <c:v>Africa</c:v>
                  </c:pt>
                  <c:pt idx="2">
                    <c:v>EMEA</c:v>
                  </c:pt>
                  <c:pt idx="3">
                    <c:v>LATAM</c:v>
                  </c:pt>
                  <c:pt idx="4">
                    <c:v>US</c:v>
                  </c:pt>
                  <c:pt idx="5">
                    <c:v>EU</c:v>
                  </c:pt>
                  <c:pt idx="6">
                    <c:v>APAC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4200</c:v>
                </c:pt>
                <c:pt idx="1">
                  <c:v>22400</c:v>
                </c:pt>
                <c:pt idx="2">
                  <c:v>26000</c:v>
                </c:pt>
                <c:pt idx="3">
                  <c:v>68000</c:v>
                </c:pt>
                <c:pt idx="4">
                  <c:v>130000</c:v>
                </c:pt>
                <c:pt idx="5">
                  <c:v>148000</c:v>
                </c:pt>
                <c:pt idx="6">
                  <c:v>192000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28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6B3FA0">
              <a:alpha val="40000"/>
            </a:srgbClr>
          </a:solidFill>
          <a:ln w="12700">
            <a:solidFill>
              <a:srgbClr val="6B3FA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8B5CC8">
              <a:alpha val="30000"/>
            </a:srgbClr>
          </a:solidFill>
          <a:ln w="12700">
            <a:solidFill>
              <a:srgbClr val="8B5CC8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4EC9C8"/>
                </a:solidFill>
              </a:rPr>
              <a:t>GLOBAL SUPERSTORE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Report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A8F0"/>
                </a:solidFill>
              </a:rPr>
              <a:t>Performance Analysis  •  2011–2014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1828800" cy="822960"/>
          </a:xfrm>
          <a:prstGeom prst="rect">
            <a:avLst/>
          </a:prstGeom>
          <a:solidFill>
            <a:srgbClr val="6B3FA0"/>
          </a:solidFill>
          <a:ln w="12700">
            <a:solidFill>
              <a:srgbClr val="8B5C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9502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$7.28M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4334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A8F0"/>
                </a:solidFill>
              </a:rPr>
              <a:t>Total Sales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51760" y="3931920"/>
            <a:ext cx="1828800" cy="822960"/>
          </a:xfrm>
          <a:prstGeom prst="rect">
            <a:avLst/>
          </a:prstGeom>
          <a:solidFill>
            <a:srgbClr val="6B3FA0"/>
          </a:solidFill>
          <a:ln w="12700">
            <a:solidFill>
              <a:srgbClr val="8B5C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51760" y="39502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$864K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51760" y="4334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A8F0"/>
                </a:solidFill>
              </a:rPr>
              <a:t>Total Profit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3931920"/>
            <a:ext cx="1828800" cy="822960"/>
          </a:xfrm>
          <a:prstGeom prst="rect">
            <a:avLst/>
          </a:prstGeom>
          <a:solidFill>
            <a:srgbClr val="6B3FA0"/>
          </a:solidFill>
          <a:ln w="12700">
            <a:solidFill>
              <a:srgbClr val="8B5C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39502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14,484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63440" y="4334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A8F0"/>
                </a:solidFill>
              </a:rPr>
              <a:t>Total Orders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75120" y="3931920"/>
            <a:ext cx="1828800" cy="822960"/>
          </a:xfrm>
          <a:prstGeom prst="rect">
            <a:avLst/>
          </a:prstGeom>
          <a:solidFill>
            <a:srgbClr val="6B3FA0"/>
          </a:solidFill>
          <a:ln w="12700">
            <a:solidFill>
              <a:srgbClr val="8B5C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39502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1,568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75120" y="4334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A8F0"/>
                </a:solidFill>
              </a:rPr>
              <a:t>Total Customers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2878"/>
          </a:solidFill>
          <a:ln w="12700">
            <a:solidFill>
              <a:srgbClr val="4A2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73152" cy="17373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878"/>
                </a:solidFill>
              </a:rPr>
              <a:t>📈 Revenue Growth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2704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Sales grew from $897K in 2011 to $1.70M in 2014 — a 90% four-year increase driven by APAC expansion.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51560"/>
            <a:ext cx="73152" cy="17373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878"/>
                </a:solidFill>
              </a:rPr>
              <a:t>🌍 Global Reach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52704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Operations across 7 markets: APAC leads with $1.98M, followed by EU ($1.55M) and US ($1.50M).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71800"/>
            <a:ext cx="73152" cy="17373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063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878"/>
                </a:solidFill>
              </a:rPr>
              <a:t>📦 Product Mix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44728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Furniture dominates at 37%, Technology 33%, and Office Supplies 30% of total category sales.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97180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971800"/>
            <a:ext cx="73152" cy="17373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063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878"/>
                </a:solidFill>
              </a:rPr>
              <a:t>📉 Profit Challenge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44728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Despite $7.28M in sales, net profit margin stands at ~12%, indicating pressure from discounts (avg 14.36%).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2878"/>
          </a:solidFill>
          <a:ln w="12700">
            <a:solidFill>
              <a:srgbClr val="4A2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&amp; Profit Trend by Year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91440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63640" y="1051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2878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63640" y="150876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2014 was the strongest year — sales up 44% vs 2013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Profit grew 80% from 2011 to 2014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CAGR of ~24% over the 4-year period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Q4 consistently outperforms other quarters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2878"/>
          </a:solidFill>
          <a:ln w="12700">
            <a:solidFill>
              <a:srgbClr val="4A2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Performance by Market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6692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914400"/>
            <a:ext cx="25603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46520" y="1024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2878"/>
                </a:solidFill>
              </a:rPr>
              <a:t>Market Share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46520" y="1417320"/>
            <a:ext cx="2286000" cy="420624"/>
          </a:xfrm>
          <a:prstGeom prst="rect">
            <a:avLst/>
          </a:prstGeom>
          <a:solidFill>
            <a:srgbClr val="F4F0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10528" y="145389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2878"/>
                </a:solidFill>
              </a:rPr>
              <a:t>APAC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510528" y="16184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$1.97M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635240" y="14904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3FA0"/>
                </a:solidFill>
              </a:rPr>
              <a:t>27%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46520" y="1947672"/>
            <a:ext cx="2286000" cy="420624"/>
          </a:xfrm>
          <a:prstGeom prst="rect">
            <a:avLst/>
          </a:prstGeom>
          <a:solidFill>
            <a:srgbClr val="F4F0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10528" y="19842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2878"/>
                </a:solidFill>
              </a:rPr>
              <a:t>EU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510528" y="21488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$1.55M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635240" y="202082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3FA0"/>
                </a:solidFill>
              </a:rPr>
              <a:t>21%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46520" y="2478024"/>
            <a:ext cx="2286000" cy="420624"/>
          </a:xfrm>
          <a:prstGeom prst="rect">
            <a:avLst/>
          </a:prstGeom>
          <a:solidFill>
            <a:srgbClr val="F4F0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10528" y="2514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2878"/>
                </a:solidFill>
              </a:rPr>
              <a:t>US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510528" y="26791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$1.50M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635240" y="25511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3FA0"/>
                </a:solidFill>
              </a:rPr>
              <a:t>21%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46520" y="3008376"/>
            <a:ext cx="2286000" cy="420624"/>
          </a:xfrm>
          <a:prstGeom prst="rect">
            <a:avLst/>
          </a:prstGeom>
          <a:solidFill>
            <a:srgbClr val="F4F0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10528" y="3044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2878"/>
                </a:solidFill>
              </a:rPr>
              <a:t>LATAM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510528" y="32095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$723K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635240" y="3081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3FA0"/>
                </a:solidFill>
              </a:rPr>
              <a:t>10%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446520" y="3538728"/>
            <a:ext cx="2286000" cy="420624"/>
          </a:xfrm>
          <a:prstGeom prst="rect">
            <a:avLst/>
          </a:prstGeom>
          <a:solidFill>
            <a:srgbClr val="F4F0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10528" y="357530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2878"/>
                </a:solidFill>
              </a:rPr>
              <a:t>EMEA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510528" y="373989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$256K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635240" y="36118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3FA0"/>
                </a:solidFill>
              </a:rPr>
              <a:t>4%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446520" y="4069080"/>
            <a:ext cx="2286000" cy="420624"/>
          </a:xfrm>
          <a:prstGeom prst="rect">
            <a:avLst/>
          </a:prstGeom>
          <a:solidFill>
            <a:srgbClr val="F4F0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10528" y="410565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2878"/>
                </a:solidFill>
              </a:rPr>
              <a:t>Africa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510528" y="42702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$246K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635240" y="41422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3FA0"/>
                </a:solidFill>
              </a:rPr>
              <a:t>3%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2878"/>
          </a:solidFill>
          <a:ln w="12700">
            <a:solidFill>
              <a:srgbClr val="4A2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by Product Category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7548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03520" y="1051560"/>
            <a:ext cx="35661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303520" y="1051560"/>
            <a:ext cx="73152" cy="114300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04688" y="11247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2878"/>
                </a:solidFill>
              </a:rPr>
              <a:t>Office Supplies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504688" y="1399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$3.46M  (72.3% of total)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504688" y="1645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C542"/>
                </a:solidFill>
              </a:rPr>
              <a:t>Dominant category by volume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303520" y="2350008"/>
            <a:ext cx="35661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03520" y="2350008"/>
            <a:ext cx="73152" cy="1143000"/>
          </a:xfrm>
          <a:prstGeom prst="rect">
            <a:avLst/>
          </a:prstGeom>
          <a:solidFill>
            <a:srgbClr val="4EC9C8"/>
          </a:solidFill>
          <a:ln w="12700">
            <a:solidFill>
              <a:srgbClr val="4EC9C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04688" y="2423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2878"/>
                </a:solidFill>
              </a:rPr>
              <a:t>Technology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504688" y="2697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$808K  (16.9% of total)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504688" y="29443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C9C8"/>
                </a:solidFill>
              </a:rPr>
              <a:t>Highest margin potential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03520" y="3648456"/>
            <a:ext cx="35661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303520" y="3648456"/>
            <a:ext cx="73152" cy="11430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04688" y="3721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2878"/>
                </a:solidFill>
              </a:rPr>
              <a:t>Furniture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504688" y="39959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$520K  (10.9% of total)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504688" y="424281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3FA0"/>
                </a:solidFill>
              </a:rPr>
              <a:t>Faces discount pressure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2878"/>
          </a:solidFill>
          <a:ln w="12700">
            <a:solidFill>
              <a:srgbClr val="4A2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Sales Seasonality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84124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2878"/>
          </a:solidFill>
          <a:ln w="12700">
            <a:solidFill>
              <a:srgbClr val="4A2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Regions &amp; States by Sales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84124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2878"/>
          </a:solidFill>
          <a:ln w="12700">
            <a:solidFill>
              <a:srgbClr val="4A2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Segments &amp; Order Priority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389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846320" y="914400"/>
          <a:ext cx="40233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2878"/>
          </a:solidFill>
          <a:ln w="12700">
            <a:solidFill>
              <a:srgbClr val="4A2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Profitability &amp; Discount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920240" cy="10972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2878"/>
                </a:solidFill>
              </a:rPr>
              <a:t>14.36%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Avg. Discount Rate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96012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960120"/>
            <a:ext cx="1920240" cy="10972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097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2878"/>
                </a:solidFill>
              </a:rPr>
              <a:t>~12%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68880" y="1572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Net Profit Margin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96012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960120"/>
            <a:ext cx="1920240" cy="10972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097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2878"/>
                </a:solidFill>
              </a:rPr>
              <a:t>$864K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1572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Total Profit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75120" y="96012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0" y="960120"/>
            <a:ext cx="1920240" cy="10972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097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2878"/>
                </a:solidFill>
              </a:rPr>
              <a:t>$59.8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75120" y="1572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Avg. Order Profit</a:t>
            </a:r>
            <a:endParaRPr lang="en-US" sz="9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365760" y="2148840"/>
          <a:ext cx="8412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A28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486400" cy="5486400"/>
          </a:xfrm>
          <a:prstGeom prst="ellipse">
            <a:avLst/>
          </a:prstGeom>
          <a:solidFill>
            <a:srgbClr val="6B3FA0">
              <a:alpha val="30000"/>
            </a:srgbClr>
          </a:solidFill>
          <a:ln w="12700">
            <a:solidFill>
              <a:srgbClr val="6B3FA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8B5CC8">
              <a:alpha val="25000"/>
            </a:srgbClr>
          </a:solidFill>
          <a:ln w="12700">
            <a:solidFill>
              <a:srgbClr val="8B5CC8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 &amp; Recommendations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97480" cy="1600200"/>
          </a:xfrm>
          <a:prstGeom prst="rect">
            <a:avLst/>
          </a:prstGeom>
          <a:solidFill>
            <a:srgbClr val="6B3FA0"/>
          </a:solidFill>
          <a:ln w="12700">
            <a:solidFill>
              <a:srgbClr val="8B5C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34440"/>
            <a:ext cx="411480" cy="411480"/>
          </a:xfrm>
          <a:prstGeom prst="ellipse">
            <a:avLst/>
          </a:prstGeom>
          <a:solidFill>
            <a:srgbClr val="4EC9C8"/>
          </a:solidFill>
          <a:ln w="12700">
            <a:solidFill>
              <a:srgbClr val="4EC9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527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2878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234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C8"/>
                </a:solidFill>
              </a:rPr>
              <a:t>Double Down on APAC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A8F0"/>
                </a:solidFill>
              </a:rPr>
              <a:t>APAC is the #1 market. Invest in logistics, local partnerships, and targeted campaigns.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697480" cy="1600200"/>
          </a:xfrm>
          <a:prstGeom prst="rect">
            <a:avLst/>
          </a:prstGeom>
          <a:solidFill>
            <a:srgbClr val="6B3FA0"/>
          </a:solidFill>
          <a:ln w="12700">
            <a:solidFill>
              <a:srgbClr val="8B5C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234440"/>
            <a:ext cx="411480" cy="411480"/>
          </a:xfrm>
          <a:prstGeom prst="ellipse">
            <a:avLst/>
          </a:prstGeom>
          <a:solidFill>
            <a:srgbClr val="4EC9C8"/>
          </a:solidFill>
          <a:ln w="12700">
            <a:solidFill>
              <a:srgbClr val="4EC9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2527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2878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94760" y="1234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C8"/>
                </a:solidFill>
              </a:rPr>
              <a:t>Reduce Discount Dependency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16916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A8F0"/>
                </a:solidFill>
              </a:rPr>
              <a:t>14.36% avg discount is high. Introduce tiered discounting with clear approval workflows.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1143000"/>
            <a:ext cx="2697480" cy="1600200"/>
          </a:xfrm>
          <a:prstGeom prst="rect">
            <a:avLst/>
          </a:prstGeom>
          <a:solidFill>
            <a:srgbClr val="6B3FA0"/>
          </a:solidFill>
          <a:ln w="12700">
            <a:solidFill>
              <a:srgbClr val="8B5C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234440"/>
            <a:ext cx="411480" cy="411480"/>
          </a:xfrm>
          <a:prstGeom prst="ellipse">
            <a:avLst/>
          </a:prstGeom>
          <a:solidFill>
            <a:srgbClr val="4EC9C8"/>
          </a:solidFill>
          <a:ln w="12700">
            <a:solidFill>
              <a:srgbClr val="4EC9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2527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2878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1234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C8"/>
                </a:solidFill>
              </a:rPr>
              <a:t>Capitalize on Q4 Seasonality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16916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A8F0"/>
                </a:solidFill>
              </a:rPr>
              <a:t>Sales peak Nov–Dec. Pre-position inventory and run targeted promotions starting October.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880360"/>
            <a:ext cx="2697480" cy="1600200"/>
          </a:xfrm>
          <a:prstGeom prst="rect">
            <a:avLst/>
          </a:prstGeom>
          <a:solidFill>
            <a:srgbClr val="6B3FA0"/>
          </a:solidFill>
          <a:ln w="12700">
            <a:solidFill>
              <a:srgbClr val="8B5C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2971800"/>
            <a:ext cx="411480" cy="411480"/>
          </a:xfrm>
          <a:prstGeom prst="ellipse">
            <a:avLst/>
          </a:prstGeom>
          <a:solidFill>
            <a:srgbClr val="4EC9C8"/>
          </a:solidFill>
          <a:ln w="12700">
            <a:solidFill>
              <a:srgbClr val="4EC9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9900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2878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C8"/>
                </a:solidFill>
              </a:rPr>
              <a:t>Grow Technology Category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4290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A8F0"/>
                </a:solidFill>
              </a:rPr>
              <a:t>Technology has highest margin potential. Expand SKUs and cross-sell to existing customers.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2880360"/>
            <a:ext cx="2697480" cy="1600200"/>
          </a:xfrm>
          <a:prstGeom prst="rect">
            <a:avLst/>
          </a:prstGeom>
          <a:solidFill>
            <a:srgbClr val="6B3FA0"/>
          </a:solidFill>
          <a:ln w="12700">
            <a:solidFill>
              <a:srgbClr val="8B5C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2971800"/>
            <a:ext cx="411480" cy="411480"/>
          </a:xfrm>
          <a:prstGeom prst="ellipse">
            <a:avLst/>
          </a:prstGeom>
          <a:solidFill>
            <a:srgbClr val="4EC9C8"/>
          </a:solidFill>
          <a:ln w="12700">
            <a:solidFill>
              <a:srgbClr val="4EC9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9900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2878"/>
                </a:solidFill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94760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C8"/>
                </a:solidFill>
              </a:rPr>
              <a:t>Focus on Consumer Segment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37560" y="34290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A8F0"/>
                </a:solidFill>
              </a:rPr>
              <a:t>51% of orders are from consumers. Loyalty programs and repeat purchase incentives can drive LTV.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80760" y="2880360"/>
            <a:ext cx="2697480" cy="1600200"/>
          </a:xfrm>
          <a:prstGeom prst="rect">
            <a:avLst/>
          </a:prstGeom>
          <a:solidFill>
            <a:srgbClr val="6B3FA0"/>
          </a:solidFill>
          <a:ln w="12700">
            <a:solidFill>
              <a:srgbClr val="8B5C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2971800"/>
            <a:ext cx="411480" cy="411480"/>
          </a:xfrm>
          <a:prstGeom prst="ellipse">
            <a:avLst/>
          </a:prstGeom>
          <a:solidFill>
            <a:srgbClr val="4EC9C8"/>
          </a:solidFill>
          <a:ln w="12700">
            <a:solidFill>
              <a:srgbClr val="4EC9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29900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2878"/>
                </a:solidFill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75120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C8"/>
                </a:solidFill>
              </a:rPr>
              <a:t>Improve Profit Margins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17920" y="34290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A8F0"/>
                </a:solidFill>
              </a:rPr>
              <a:t>Margin ~12% leaves room to grow. Review shipping cost efficiency and supplier negotiations.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Superstore Dashboard</dc:title>
  <dc:subject>PptxGenJS Presentation</dc:subject>
  <dc:creator>PptxGenJS</dc:creator>
  <cp:lastModifiedBy>PptxGenJS</cp:lastModifiedBy>
  <cp:revision>1</cp:revision>
  <dcterms:created xsi:type="dcterms:W3CDTF">2026-06-04T14:53:45Z</dcterms:created>
  <dcterms:modified xsi:type="dcterms:W3CDTF">2026-06-04T14:53:45Z</dcterms:modified>
</cp:coreProperties>
</file>